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347472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MANUFACTURING OPERATIONS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Whole-Factory Optimal Process Scheduling</a:t>
            </a:r>
            <a:br/>
            <a:r>
              <a:t>&amp; Operations Framework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Unifying Make-vs-Buy Decisions, Flexible Job Shop Optimization, and Human-in-the-Loop Shop Floor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32004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PART I: IMPLEMENTED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Make vs Buy MILP + Baseline JSSP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754880"/>
            <a:ext cx="32004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PART II: IN-PLANNING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Flexible Job Shop + Cart Logistics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754880"/>
            <a:ext cx="320040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REALITY GROUNDING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No AGVs / No IoT: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Architecture: From Orders to Machine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The Industrial Challenge &amp; Local Optima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E293B"/>
                </a:solidFill>
              </a:rPr>
              <a:t>Siloed Decisions Fail: </a:t>
            </a:r>
            <a:r>
              <a:rPr sz="1300">
                <a:solidFill>
                  <a:srgbClr val="64748B"/>
                </a:solidFill>
              </a:rPr>
              <a:t>Deciding Make-vs-Buy purely on annual machine capacity creates unexecutable shop-floor blockages.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E293B"/>
                </a:solidFill>
              </a:rPr>
              <a:t>Physical Coupling: </a:t>
            </a:r>
            <a:r>
              <a:rPr sz="1300">
                <a:solidFill>
                  <a:srgbClr val="64748B"/>
                </a:solidFill>
              </a:rPr>
              <a:t>A CNC machine cannot cut without raw blanks wheeled from stores, tooling fixtures, and qualified machinists.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E293B"/>
                </a:solidFill>
              </a:rPr>
              <a:t>Bottleneck Propagation: </a:t>
            </a:r>
            <a:r>
              <a:rPr sz="1300">
                <a:solidFill>
                  <a:srgbClr val="64748B"/>
                </a:solidFill>
              </a:rPr>
              <a:t>If intermediate staging racks are full, upstream machines are physically blocked from unloading.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1E293B"/>
                </a:solidFill>
              </a:rPr>
              <a:t>Factory Reality: </a:t>
            </a:r>
            <a:r>
              <a:rPr sz="1300">
                <a:solidFill>
                  <a:srgbClr val="64748B"/>
                </a:solidFill>
              </a:rPr>
              <a:t>Precision optical &amp; CNC shops do not have multimillion-dollar AGVs or IoT streaming telemetry. Scheduling must work with manual carts and supervisor shift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Integrated Two-Pillar Framework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Pillar 1: Implemented Baseline (Code Active)</a:t>
            </a:r>
            <a:r>
              <a:rPr sz="1200">
                <a:solidFill>
                  <a:srgbClr val="64748B"/>
                </a:solidFill>
              </a:rPr>
              <a:t>
• Order-Level Make vs Buy MILP (PuLP)
• Multi-Criteria Decision Making (MCDM: Risk, Strategy, Finance)
• Baseline CP-SAT Job Shop Scheduler
• Streamlit Interactive Operations Dashboard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Pillar 2: In-Planning Target (Whole Factory)</a:t>
            </a:r>
            <a:r>
              <a:rPr sz="1200">
                <a:solidFill>
                  <a:srgbClr val="64748B"/>
                </a:solidFill>
              </a:rPr>
              <a:t>
• Flexible Job Shop (Parallel CNC/Polishing Machine Pools)
• Sequence-Dependent Setup Times (SDST Changeovers)
• Inter-Bay Cart Transit &amp; Staging Buffer Capacities
• Vacuum Coating Batching &amp; Thermal Curing Rules
• Human-in-the-Loop Disruption Repair (Right-Shift &amp; Re-Solve)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PART I: WORK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Implemented: Make vs. Buy Multi-Criteria Optimizer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Mathematical Formulation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Solver Engine: </a:t>
            </a:r>
            <a:r>
              <a:rPr sz="1100">
                <a:solidFill>
                  <a:srgbClr val="64748B"/>
                </a:solidFill>
              </a:rPr>
              <a:t>PuLP Mixed-Integer Linear Programming (MILP).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Decision Variables: </a:t>
            </a:r>
            <a:r>
              <a:rPr sz="1100">
                <a:solidFill>
                  <a:srgbClr val="64748B"/>
                </a:solidFill>
              </a:rPr>
              <a:t>Integer Make_vars[i] and Buy_vars[i], linked by Binary IsMake[i].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Strict Demand Fulfill: </a:t>
            </a:r>
            <a:r>
              <a:rPr sz="1100">
                <a:solidFill>
                  <a:srgbClr val="64748B"/>
                </a:solidFill>
              </a:rPr>
              <a:t>Make[i] + Buy[i] == Order_Qty[i].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Capacity Handshake: </a:t>
            </a:r>
            <a:r>
              <a:rPr sz="1100">
                <a:solidFill>
                  <a:srgbClr val="64748B"/>
                </a:solidFill>
              </a:rPr>
              <a:t>Machine net capacity limits:
Sum(Setup + Run * (1 + Scrap)) &lt;= Available_Hours.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Critical Policy: </a:t>
            </a:r>
            <a:r>
              <a:rPr sz="1100">
                <a:solidFill>
                  <a:srgbClr val="64748B"/>
                </a:solidFill>
              </a:rPr>
              <a:t>Critical items strictly forbidden from external purchase (Buy[i] == 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4 Selectable MCDM Goals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💰 Financial Performance: </a:t>
            </a:r>
            <a:r>
              <a:rPr sz="1100">
                <a:solidFill>
                  <a:srgbClr val="64748B"/>
                </a:solidFill>
              </a:rPr>
              <a:t>Minimizes raw materials, direct labor, machine runtime costs, and vendor purchase prices.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🛡️ Sourcing Risk: </a:t>
            </a:r>
            <a:r>
              <a:rPr sz="1100">
                <a:solidFill>
                  <a:srgbClr val="64748B"/>
                </a:solidFill>
              </a:rPr>
              <a:t>Penalizes IP leakage, vendor financial instability, and supplier disruption risk (-8 to +8 scale).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👥 Managerial Performance: </a:t>
            </a:r>
            <a:r>
              <a:rPr sz="1100">
                <a:solidFill>
                  <a:srgbClr val="64748B"/>
                </a:solidFill>
              </a:rPr>
              <a:t>Optimizes transaction complexity, supplier relationship value, and customer perception.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🏆 Strategic Competitiveness: </a:t>
            </a:r>
            <a:r>
              <a:rPr sz="1100">
                <a:solidFill>
                  <a:srgbClr val="64748B"/>
                </a:solidFill>
              </a:rPr>
              <a:t>Penalizes external lead times and vendor defect rates while rewarding internal volume flexibility.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Interactive Deliverables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Order-Level Tagging: </a:t>
            </a:r>
            <a:r>
              <a:rPr sz="1100">
                <a:solidFill>
                  <a:srgbClr val="64748B"/>
                </a:solidFill>
              </a:rPr>
              <a:t>Categorizes orders automatically into MAKE, BUY, or MAKE &amp; BUY.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Executive KPI Cards: </a:t>
            </a:r>
            <a:r>
              <a:rPr sz="1100">
                <a:solidFill>
                  <a:srgbClr val="64748B"/>
                </a:solidFill>
              </a:rPr>
              <a:t>Instant readouts for Total Units Made, Units Bought, Optimal Penalty Score, and Split Orders.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Decision Distribution: </a:t>
            </a:r>
            <a:r>
              <a:rPr sz="1100">
                <a:solidFill>
                  <a:srgbClr val="64748B"/>
                </a:solidFill>
              </a:rPr>
              <a:t>Interactive Plotly Pie and Bar charts visualizing volume splits.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Scenario Stress-Testing: </a:t>
            </a:r>
            <a:r>
              <a:rPr sz="1100">
                <a:solidFill>
                  <a:srgbClr val="64748B"/>
                </a:solidFill>
              </a:rPr>
              <a:t>Machine capacity slider (0.1x to 2.0x) to test bottleneck shocks.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Output File: </a:t>
            </a:r>
            <a:r>
              <a:rPr sz="1100">
                <a:solidFill>
                  <a:srgbClr val="64748B"/>
                </a:solidFill>
              </a:rPr>
              <a:t>Exports decisions directly to Final_Make_Buy_Decisions.csv for scheduling.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PART I: WORK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Implemented: Baseline Job Shop Scheduler (CP-SAT)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Constraint Programming Formulation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Engine: </a:t>
            </a:r>
            <a:r>
              <a:rPr sz="1200">
                <a:solidFill>
                  <a:srgbClr val="64748B"/>
                </a:solidFill>
              </a:rPr>
              <a:t>Google OR-Tools CP-SAT (Constraint Programming with SAT solver).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Order Filtration: </a:t>
            </a:r>
            <a:r>
              <a:rPr sz="1200">
                <a:solidFill>
                  <a:srgbClr val="64748B"/>
                </a:solidFill>
              </a:rPr>
              <a:t>Pulls all orders where Make_In_House_Qty &gt; 0 from Make/Buy decisions.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Task Duration Logic: </a:t>
            </a:r>
            <a:r>
              <a:rPr sz="1200">
                <a:solidFill>
                  <a:srgbClr val="64748B"/>
                </a:solidFill>
              </a:rPr>
              <a:t>Duration = Setup_Hours + (Run_Hours_Per_Unit * Qty). Formulated in integer minutes.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Machine Interval Variables: </a:t>
            </a:r>
            <a:r>
              <a:rPr sz="1200">
                <a:solidFill>
                  <a:srgbClr val="64748B"/>
                </a:solidFill>
              </a:rPr>
              <a:t>IntervalVar(start, duration, end) with AddNoOverlap across each machine's operations.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Job Precedence: </a:t>
            </a:r>
            <a:r>
              <a:rPr sz="1200">
                <a:solidFill>
                  <a:srgbClr val="64748B"/>
                </a:solidFill>
              </a:rPr>
              <a:t>Strict chain start_var(op_k+1) &gt;= end_var(op_k).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Dual Objective Modes: </a:t>
            </a:r>
            <a:r>
              <a:rPr sz="1200">
                <a:solidFill>
                  <a:srgbClr val="64748B"/>
                </a:solidFill>
              </a:rPr>
              <a:t>Minimizes Total Makespan (C_max) OR Total Weighted Due-Date Tardiness (sum max(0, C_i - d_i)).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Factory Working Calendar &amp; UI Visualization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Real Working Calendar Mapping: </a:t>
            </a:r>
            <a:r>
              <a:rPr sz="1200">
                <a:solidFill>
                  <a:srgbClr val="64748B"/>
                </a:solidFill>
              </a:rPr>
              <a:t>Maps integer solver minutes into 10-hour working days (8:00 AM - 6:00 PM), 6 days a week (Monday to Saturday, Sundays closed).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Interactive Multi-Track Gantt: </a:t>
            </a:r>
            <a:r>
              <a:rPr sz="1200">
                <a:solidFill>
                  <a:srgbClr val="64748B"/>
                </a:solidFill>
              </a:rPr>
              <a:t>Visualizes full production schedule color-coded by Job ID using Plotly Timeline.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Cascade Shift Filters: </a:t>
            </a:r>
            <a:r>
              <a:rPr sz="1200">
                <a:solidFill>
                  <a:srgbClr val="64748B"/>
                </a:solidFill>
              </a:rPr>
              <a:t>Enables shop supervisors to filter by Machine -&gt; Month -&gt; ISO Week for granular views.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Export Capabilities: </a:t>
            </a:r>
            <a:r>
              <a:rPr sz="1200">
                <a:solidFill>
                  <a:srgbClr val="64748B"/>
                </a:solidFill>
              </a:rPr>
              <a:t>One-click download of production_schedule.csv formatted with exact Start/Finish timestamps for shop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Current Code Limitations: Why Whole-Factory Planning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1. Single-Machine Routing  |  </a:t>
            </a:r>
            <a:r>
              <a:rPr sz="1200">
                <a:solidFill>
                  <a:srgbClr val="64748B"/>
                </a:solidFill>
              </a:rPr>
              <a:t>Current: Routings specify only 1 machine (e.g. CNC_MILL).   --&gt;   </a:t>
            </a:r>
            <a:r>
              <a:rPr b="1" sz="1200">
                <a:solidFill>
                  <a:srgbClr val="D97706"/>
                </a:solidFill>
              </a:rPr>
              <a:t>Impact: Completely ignores parallel machines (CNC_MILL_2..5), artificially causing 4x longer makespans.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2. Zero Material Transit  |  </a:t>
            </a:r>
            <a:r>
              <a:rPr sz="1200">
                <a:solidFill>
                  <a:srgbClr val="64748B"/>
                </a:solidFill>
              </a:rPr>
              <a:t>Current: Transit time between machines is assumed to be 0 mins.   --&gt;   </a:t>
            </a:r>
            <a:r>
              <a:rPr b="1" sz="1200">
                <a:solidFill>
                  <a:srgbClr val="D97706"/>
                </a:solidFill>
              </a:rPr>
              <a:t>Impact: Ignores the 15-30 min trolley travel, part washing, and deburring between machine bays.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3. Static Setup Times  |  </a:t>
            </a:r>
            <a:r>
              <a:rPr sz="1200">
                <a:solidFill>
                  <a:srgbClr val="64748B"/>
                </a:solidFill>
              </a:rPr>
              <a:t>Current: Fixed setup hours per item regardless of sequence.   --&gt;   </a:t>
            </a:r>
            <a:r>
              <a:rPr b="1" sz="1200">
                <a:solidFill>
                  <a:srgbClr val="D97706"/>
                </a:solidFill>
              </a:rPr>
              <a:t>Impact: Fails to model sequence-dependent changeovers (e.g., lens polisher tooling &amp; fixture swaps).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4. Infinite Buffers  |  </a:t>
            </a:r>
            <a:r>
              <a:rPr sz="1200">
                <a:solidFill>
                  <a:srgbClr val="64748B"/>
                </a:solidFill>
              </a:rPr>
              <a:t>Current: Buffers between machines are assumed infinite (UIS).   --&gt;   </a:t>
            </a:r>
            <a:r>
              <a:rPr b="1" sz="1200">
                <a:solidFill>
                  <a:srgbClr val="D97706"/>
                </a:solidFill>
              </a:rPr>
              <a:t>Impact: In reality, buffer racks hold 2-3 carts. If full, upstream machines are physically blocked.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5. Open-Loop Scheduling  |  </a:t>
            </a:r>
            <a:r>
              <a:rPr sz="1200">
                <a:solidFill>
                  <a:srgbClr val="64748B"/>
                </a:solidFill>
              </a:rPr>
              <a:t>Current: Static schedule solved once in batch mode.   --&gt;   </a:t>
            </a:r>
            <a:r>
              <a:rPr b="1" sz="1200">
                <a:solidFill>
                  <a:srgbClr val="D97706"/>
                </a:solidFill>
              </a:rPr>
              <a:t>Impact: When a machine fails or an operator is delayed, the schedule shatters with no repair mechanism.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PART II: TARGET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In-Planning: 4-Layer Cyber-Physical Architecture (ISA-95)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Layer 1: Enterprise Layer (ERP / SCM)  —  </a:t>
            </a:r>
            <a:r>
              <a:rPr b="1" sz="1300">
                <a:solidFill>
                  <a:srgbClr val="1E293B"/>
                </a:solidFill>
              </a:rPr>
              <a:t>Master Production Schedule (MPS) &amp; Material Requirements (MRP)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Ingests customer purchase orders, committed delivery SLAs, and supplier component lead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2563EB"/>
                </a:solidFill>
              </a:rPr>
              <a:t>Layer 2: Advanced Planning &amp; Scheduling (APS)  —  </a:t>
            </a:r>
            <a:r>
              <a:rPr b="1" sz="1300">
                <a:solidFill>
                  <a:srgbClr val="1E293B"/>
                </a:solidFill>
              </a:rPr>
              <a:t>Global Optimization Engine (PuLP MILP + Master Planning)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Executes finite-capacity planning, decides Make-vs-Buy, and feeds certified promise dates back to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D9488"/>
                </a:solidFill>
              </a:rPr>
              <a:t>Layer 3: Practical MES &amp; Reactive Engine  —  </a:t>
            </a:r>
            <a:r>
              <a:rPr b="1" sz="1300">
                <a:solidFill>
                  <a:srgbClr val="1E293B"/>
                </a:solidFill>
              </a:rPr>
              <a:t>Tri-Controller Coordination (Process, FJSSP, Material Handling)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Process Controller (Chamber batching) + FJSSP Sequencer (Parallel machines) + Cart Staging Coordinator.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Layer 4: Real Shop Floor Execution  —  </a:t>
            </a:r>
            <a:r>
              <a:rPr b="1" sz="1300">
                <a:solidFill>
                  <a:srgbClr val="1E293B"/>
                </a:solidFill>
              </a:rPr>
              <a:t>Human-in-the-Loop Feedback (Shift Work-Lists &amp; Supervisor Console)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Daily machine dispatch sheets, trolley transfer tickets, and supervisor 1-click disruption repair.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TARGET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1: Flexible Job Shop (FJSSP) &amp; Sequence-Dependent Setups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1. Parallel Machine Routing (FJSSP)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The Available Machine Assets: </a:t>
            </a:r>
            <a:r>
              <a:rPr sz="1200">
                <a:solidFill>
                  <a:srgbClr val="64748B"/>
                </a:solidFill>
              </a:rPr>
              <a:t>machine_capacities.csv already lists:
• 5 CNC Mills (CNC_MILL_1 to 5)
• 5 Lens Polishers (LENS_POLISHER_1 to 5)
• 5 Coating Chambers (COATING_CHAMBER_1 to 5)
• 5 Assembly Stations (ASSEMBLY_STATION_1 to 5)
• 4 Testing Rigs (TESTING_RIG_1 to 4)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Mathematical Formulation: </a:t>
            </a:r>
            <a:r>
              <a:rPr sz="1200">
                <a:solidFill>
                  <a:srgbClr val="64748B"/>
                </a:solidFill>
              </a:rPr>
              <a:t>Each operation O_ij can execute on any eligible machine k in M_ij.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CP-SAT Optional Intervals: </a:t>
            </a:r>
            <a:r>
              <a:rPr sz="1200">
                <a:solidFill>
                  <a:srgbClr val="64748B"/>
                </a:solidFill>
              </a:rPr>
              <a:t>modeled using AddOptionalIntervalVar with a Boolean presence flag x_ijk, enforcing Sum(x_ijk) == 1.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Impact: </a:t>
            </a:r>
            <a:r>
              <a:rPr sz="1200">
                <a:solidFill>
                  <a:srgbClr val="64748B"/>
                </a:solidFill>
              </a:rPr>
              <a:t>Eliminates artificial bottlenecks, balances machine workload, and cuts makespan by 40–60%.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2. Sequence-Dependent Setups (SDST)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Industrial Changeovers: </a:t>
            </a:r>
            <a:r>
              <a:rPr sz="1200">
                <a:solidFill>
                  <a:srgbClr val="64748B"/>
                </a:solidFill>
              </a:rPr>
              <a:t>In precision lens &amp; CNC machining, changeover time depends on product family transitions:
• Switching optical lens curve requires tool lap change.
• Changing milling material (aluminum to titanium) requires chip cleaning and tool offset re-calibration.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Asymmetric Setup Matrix: </a:t>
            </a:r>
            <a:r>
              <a:rPr sz="1200">
                <a:solidFill>
                  <a:srgbClr val="64748B"/>
                </a:solidFill>
              </a:rPr>
              <a:t>Matrix S[k, family_A, family_B] defining exact changeover minutes.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CP-SAT Circuit Formulation: </a:t>
            </a:r>
            <a:r>
              <a:rPr sz="1200">
                <a:solidFill>
                  <a:srgbClr val="64748B"/>
                </a:solidFill>
              </a:rPr>
              <a:t>Transition times enforced between consecutive tasks on machine k:
Start(task_B) &gt;= End(task_A) + S[k, A, B].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Production Clustering: </a:t>
            </a:r>
            <a:r>
              <a:rPr sz="1200">
                <a:solidFill>
                  <a:srgbClr val="64748B"/>
                </a:solidFill>
              </a:rPr>
              <a:t>Solver naturally clusters similar items together to minimize total setup downtime across the factory.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TARGET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2: Material Handling &amp; Buffering (Tailored: No AGVs)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Manual Cart / Trolley Inter-Bay Transit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Tailored to Real Factory Reality: </a:t>
            </a:r>
            <a:r>
              <a:rPr sz="1200">
                <a:solidFill>
                  <a:srgbClr val="64748B"/>
                </a:solidFill>
              </a:rPr>
              <a:t>Eliminates all unnecessary complexity of autonomous AGV battery curves and robotic LiDAR routing.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Inter-Bay Handling Time (tau_ab): </a:t>
            </a:r>
            <a:r>
              <a:rPr sz="1200">
                <a:solidFill>
                  <a:srgbClr val="64748B"/>
                </a:solidFill>
              </a:rPr>
              <a:t>Models the real physical time required to move parts between shop bays:
• 0 mins: Consecutive tasks on same machine.
• 5–10 mins: Moving within the same department bay.
• 15–30 mins: Inter-department move (e.g. CNC Bay -&gt; Optical Polishing -&gt; Vacuum Chamber -&gt; QA Rig).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Physical Work Included: </a:t>
            </a:r>
            <a:r>
              <a:rPr sz="1200">
                <a:solidFill>
                  <a:srgbClr val="64748B"/>
                </a:solidFill>
              </a:rPr>
              <a:t>Accounts for washing, burr removal, packing into protective tote bins, and physical trolley wheeling.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Precedence Coupling: </a:t>
            </a:r>
            <a:r>
              <a:rPr sz="1200">
                <a:solidFill>
                  <a:srgbClr val="64748B"/>
                </a:solidFill>
              </a:rPr>
              <a:t>Start(Op_j+1) &gt;= End(Op_j) + tau_ab.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Workstation Staging Buffers &amp; Blocking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Finite Intermediate Storage (FIS): </a:t>
            </a:r>
            <a:r>
              <a:rPr sz="1200">
                <a:solidFill>
                  <a:srgbClr val="64748B"/>
                </a:solidFill>
              </a:rPr>
              <a:t>Workstations have physical space for only 2–3 tote carts (Capacity C_b).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The Blocking Phenomenon: </a:t>
            </a:r>
            <a:r>
              <a:rPr sz="1200">
                <a:solidFill>
                  <a:srgbClr val="64748B"/>
                </a:solidFill>
              </a:rPr>
              <a:t>If machine B's buffer is completely full, upstream machine A cannot release the finished batch. Machine A becomes 'blocked', unable to start its next job.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Aisle Congestion Prevention: </a:t>
            </a:r>
            <a:r>
              <a:rPr sz="1200">
                <a:solidFill>
                  <a:srgbClr val="64748B"/>
                </a:solidFill>
              </a:rPr>
              <a:t>Mathematically prevents unmanaged work-in-process (WIP) from piling up in pedestrian and cart corridors.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Cumulative Staging Constraints: </a:t>
            </a:r>
            <a:r>
              <a:rPr sz="1200">
                <a:solidFill>
                  <a:srgbClr val="64748B"/>
                </a:solidFill>
              </a:rPr>
              <a:t>Enforced via CP-SAT Cumulative constraints over machine staging areas, keeping shop floor flow lean and organized.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TARGET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3: Upstream Process Batching &amp; Thermal Curing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Optical Coating Chamber Batching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The Batch Process Nature: </a:t>
            </a:r>
            <a:r>
              <a:rPr sz="1200">
                <a:solidFill>
                  <a:srgbClr val="64748B"/>
                </a:solidFill>
              </a:rPr>
              <a:t>In COATING_CHAMBER units, running single lenses is economically infeasible due to vacuum cycle &amp; heating overheads.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Lot Sizing Bounds [B_min, B_max]: </a:t>
            </a:r>
            <a:r>
              <a:rPr sz="1200">
                <a:solidFill>
                  <a:srgbClr val="64748B"/>
                </a:solidFill>
              </a:rPr>
              <a:t>Enforces minimum chamber fill (e.g. at least 20 units) and maximum chamber volume (e.g. up to 100 units).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Multi-Order Consolidation: </a:t>
            </a:r>
            <a:r>
              <a:rPr sz="1200">
                <a:solidFill>
                  <a:srgbClr val="64748B"/>
                </a:solidFill>
              </a:rPr>
              <a:t>Batches lenses from multiple active indents sharing identical optical anti-reflective coating recipes.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Backward Locking: </a:t>
            </a:r>
            <a:r>
              <a:rPr sz="1200">
                <a:solidFill>
                  <a:srgbClr val="64748B"/>
                </a:solidFill>
              </a:rPr>
              <a:t>Upstream milling and polishing operations are pulled backward to hit the exact scheduled vacuum pump-down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t>Zero-Wait &amp; Curing Time-Lag Rules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Zero-Wait (ZW) Constraints: </a:t>
            </a:r>
            <a:r>
              <a:rPr sz="1200">
                <a:solidFill>
                  <a:srgbClr val="64748B"/>
                </a:solidFill>
              </a:rPr>
              <a:t>For processes where freshly treated optical glass oxidizes or degrades if exposed to ambient air without immediate sealing.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Limited-Wait (LW) Curing Windows: </a:t>
            </a:r>
            <a:r>
              <a:rPr sz="1200">
                <a:solidFill>
                  <a:srgbClr val="64748B"/>
                </a:solidFill>
              </a:rPr>
              <a:t>theta_min &lt;= Start(Op_next) - End(Op_batch) &lt;= theta_max.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Physical Cooling &amp; Adhesive Curing: </a:t>
            </a:r>
            <a:r>
              <a:rPr sz="1200">
                <a:solidFill>
                  <a:srgbClr val="64748B"/>
                </a:solidFill>
              </a:rPr>
              <a:t>Parts must sit for at least theta_min (e.g., 60 mins cooling after autoclave/chamber) but must enter assembly before adhesive shelf-life theta_max (e.g., 24 hours).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Yield Protection: </a:t>
            </a:r>
            <a:r>
              <a:rPr sz="1200">
                <a:solidFill>
                  <a:srgbClr val="64748B"/>
                </a:solidFill>
              </a:rPr>
              <a:t>Eliminates scrap caused by out-of-spec chemical degradation between process stages.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TARGET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4: Human-in-the-Loop Rescheduling (No IoT Needed)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Robust Predictive Buffering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The Brownfield Reality: </a:t>
            </a:r>
            <a:r>
              <a:rPr sz="1200">
                <a:solidFill>
                  <a:srgbClr val="64748B"/>
                </a:solidFill>
              </a:rPr>
              <a:t>Machines lack telemetry sensors; schedules cannot be minute-brittle.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Safety Slack Buffers: </a:t>
            </a:r>
            <a:r>
              <a:rPr sz="1200">
                <a:solidFill>
                  <a:srgbClr val="64748B"/>
                </a:solidFill>
              </a:rPr>
              <a:t>Adds a 5–10% protective buffer to task runtimes on bottleneck machines.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Variance Absorption: </a:t>
            </a:r>
            <a:r>
              <a:rPr sz="1200">
                <a:solidFill>
                  <a:srgbClr val="64748B"/>
                </a:solidFill>
              </a:rPr>
              <a:t>Minor manual delays (machinist adjusting a clamp, 10 min setup slip) are absorbed internally by the safety slack without breaking downstream operations.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E293B"/>
                </a:solidFill>
              </a:rPr>
              <a:t>Schedule Stability: </a:t>
            </a:r>
            <a:r>
              <a:rPr sz="1200">
                <a:solidFill>
                  <a:srgbClr val="64748B"/>
                </a:solidFill>
              </a:rPr>
              <a:t>Prevents 'schedule nervousness' and eliminates constant recalculations during the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Interactive Disruption Console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Supervisor UI in Streamlit: </a:t>
            </a:r>
            <a:r>
              <a:rPr sz="1200">
                <a:solidFill>
                  <a:srgbClr val="64748B"/>
                </a:solidFill>
              </a:rPr>
              <a:t>Supervisor logs shop events via simple dropdowns:
• Mark Machine Down (e.g. CNC_MILL_2 down until 14:00)
• Report Operation Delay (e.g. IOL-OPT-004 delayed 45 min)
• Insert Rush Work Order (Priority Military Indent)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Mode 1 — One-Click Right-Shift Repair: </a:t>
            </a:r>
            <a:r>
              <a:rPr sz="1200">
                <a:solidFill>
                  <a:srgbClr val="64748B"/>
                </a:solidFill>
              </a:rPr>
              <a:t>Pushes downstream tasks to the right without changing machine assignments or sequence. Zero shop floor confusion!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E293B"/>
                </a:solidFill>
              </a:rPr>
              <a:t>Mode 2 — Local CP-SAT Re-Optimization: </a:t>
            </a:r>
            <a:r>
              <a:rPr sz="1200">
                <a:solidFill>
                  <a:srgbClr val="64748B"/>
                </a:solidFill>
              </a:rPr>
              <a:t>Locks in-progress tasks, re-routes unstarted tasks across active parallel machines (CNC_MILL_1, 3, 4, 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TARGET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Phase 5: Actionable Shop-Floor Outputs &amp; Dispatch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Machinist Dispatch Sheets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Per-Machine Worklist: </a:t>
            </a:r>
            <a:r>
              <a:rPr sz="1100">
                <a:solidFill>
                  <a:srgbClr val="64748B"/>
                </a:solidFill>
              </a:rPr>
              <a:t>Printed or displayed on a tablet at each cell (e.g. CNC_MILL_3).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Clean Sequence Order: </a:t>
            </a:r>
            <a:r>
              <a:rPr sz="1100">
                <a:solidFill>
                  <a:srgbClr val="64748B"/>
                </a:solidFill>
              </a:rPr>
              <a:t>Shows exact order of jobs (Job 1 -&gt; Job 2 -&gt; Job 3).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Tooling &amp; Setup Notes: </a:t>
            </a:r>
            <a:r>
              <a:rPr sz="1100">
                <a:solidFill>
                  <a:srgbClr val="64748B"/>
                </a:solidFill>
              </a:rPr>
              <a:t>Lists required cutting tools, chuck jaws, and optical fixtures.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Target Time Windows: </a:t>
            </a:r>
            <a:r>
              <a:rPr sz="1100">
                <a:solidFill>
                  <a:srgbClr val="64748B"/>
                </a:solidFill>
              </a:rPr>
              <a:t>Displays planned start, planned finish, and customer due 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Material Cart Tickets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Tote Box Traveler Cards: </a:t>
            </a:r>
            <a:r>
              <a:rPr sz="1100">
                <a:solidFill>
                  <a:srgbClr val="64748B"/>
                </a:solidFill>
              </a:rPr>
              <a:t>Accompany every physical rolling cart across departments.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Clear Routing Instructions: </a:t>
            </a:r>
            <a:r>
              <a:rPr sz="1100">
                <a:solidFill>
                  <a:srgbClr val="64748B"/>
                </a:solidFill>
              </a:rPr>
              <a:t>Informs material handlers: 'Move from CNC Bay to Polishing Bay 2'.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Batch Inspection Sign-off: </a:t>
            </a:r>
            <a:r>
              <a:rPr sz="1100">
                <a:solidFill>
                  <a:srgbClr val="64748B"/>
                </a:solidFill>
              </a:rPr>
              <a:t>Includes checkboxes for deburring, ultrasonic washing, and QA count.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Staging Destination: </a:t>
            </a:r>
            <a:r>
              <a:rPr sz="1100">
                <a:solidFill>
                  <a:srgbClr val="64748B"/>
                </a:solidFill>
              </a:rPr>
              <a:t>Designates specific input rack buffer at downstream station.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Supervisor Dashboard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Live Factory Schedule Gantt: </a:t>
            </a:r>
            <a:r>
              <a:rPr sz="1100">
                <a:solidFill>
                  <a:srgbClr val="64748B"/>
                </a:solidFill>
              </a:rPr>
              <a:t>Color-coded multi-machine timeline with setup vs run blocks.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Bottleneck Indicator: </a:t>
            </a:r>
            <a:r>
              <a:rPr sz="1100">
                <a:solidFill>
                  <a:srgbClr val="64748B"/>
                </a:solidFill>
              </a:rPr>
              <a:t>Highlights machines running above 85% utilization.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Buffer Congestion Alerts: </a:t>
            </a:r>
            <a:r>
              <a:rPr sz="1100">
                <a:solidFill>
                  <a:srgbClr val="64748B"/>
                </a:solidFill>
              </a:rPr>
              <a:t>Flags when a staging buffer exceeds cart capacity.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E293B"/>
                </a:solidFill>
              </a:rPr>
              <a:t>What-If Simulation: </a:t>
            </a:r>
            <a:r>
              <a:rPr sz="1100">
                <a:solidFill>
                  <a:srgbClr val="64748B"/>
                </a:solidFill>
              </a:rPr>
              <a:t>Enables management to test adding a 2nd shift or overtime before committing.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Architecture Scorecard: Implemented vs. In-Planning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11480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Factory Scheduling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Current Implemented State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 In-Planning 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Machine Allocation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Single fixed machine per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Parallel Flexible Job Shop (CNC_MILL_1..5,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Sequence-Dependent Setups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Static uniform hours per 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SDST transition matrix S[k, A, B] by item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Shop Floor Material Handling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Assumed 0 minutes instant jump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Manual cart/trolley inter-bay lags (5-30 mins)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Intermediate Buffers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Infinite buffer assumption (UIS)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Finite Intermediate Storage (FIS) with blocking rules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Upstream Process Batching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Ignored; individual piece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Vacuum Coating Chamber lot sizing [B_min, B_max]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Shop Floor 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Static open-loop batch solver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D9488"/>
                          </a:solidFill>
                        </a:defRPr>
                      </a:pPr>
                      <a:r>
                        <a:t>Safety slack buffers + Supervisor 1-click repair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Execution Roadmap: Phased Rollout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Phase 1: FJSSP &amp; Parallel Pools  [Week 1–2]:  </a:t>
            </a:r>
            <a:r>
              <a:rPr sz="1200">
                <a:solidFill>
                  <a:srgbClr val="1E293B"/>
                </a:solidFill>
              </a:rPr>
              <a:t>Upgrade CP-SAT model to distribute operations across CNC_MILL_1..5 and LENS_POLISHER_1..5; integrate SDST matrix.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Phase 2: Inter-Bay Cart Transit  [Week 3]:  </a:t>
            </a:r>
            <a:r>
              <a:rPr sz="1200">
                <a:solidFill>
                  <a:srgbClr val="1E293B"/>
                </a:solidFill>
              </a:rPr>
              <a:t>Integrate transfer times tau_ab (5-30 min) and workstation staging buffer limits C_b to eliminate floor congestion.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Phase 3: Vacuum Chamber Batching  [Week 4]:  </a:t>
            </a:r>
            <a:r>
              <a:rPr sz="1200">
                <a:solidFill>
                  <a:srgbClr val="1E293B"/>
                </a:solidFill>
              </a:rPr>
              <a:t>Implement coating chamber batch sizing bounds [B_min, B_max] and Limited-Wait cooling/curing time 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D97706"/>
                </a:solidFill>
              </a:rPr>
              <a:t>Phase 4: Disruption Management  [Week 5]:  </a:t>
            </a:r>
            <a:r>
              <a:rPr sz="1200">
                <a:solidFill>
                  <a:srgbClr val="1E293B"/>
                </a:solidFill>
              </a:rPr>
              <a:t>Build the Supervisor Disruption Console in Streamlit for One-Click Right-Shift Repair and Local Re-Optimization.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Phase 5: Floor Dispatch Sheets  [Week 6]:  </a:t>
            </a:r>
            <a:r>
              <a:rPr sz="1200">
                <a:solidFill>
                  <a:srgbClr val="1E293B"/>
                </a:solidFill>
              </a:rPr>
              <a:t>Deploy printable and interactive Daily Machine Dispatch Lists and Cart Traveler Tickets for shop floor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Impact &amp; Next Steps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93C5FD"/>
                </a:solidFill>
              </a:rPr>
              <a:t>1. Proven Solid Foundation: </a:t>
            </a:r>
            <a:r>
              <a:rPr sz="1400">
                <a:solidFill>
                  <a:srgbClr val="FFFFFF"/>
                </a:solidFill>
              </a:rPr>
              <a:t>The existing codebase already possesses robust Make-vs-Buy linear programming (PuLP) and baseline CP-SAT scheduling capabilities.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93C5FD"/>
                </a:solidFill>
              </a:rPr>
              <a:t>2. Tailored to Manufacturing Reality: </a:t>
            </a:r>
            <a:r>
              <a:rPr sz="1400">
                <a:solidFill>
                  <a:srgbClr val="FFFFFF"/>
                </a:solidFill>
              </a:rPr>
              <a:t>By stripping away unrealistic AGV/IoT assumptions, the in-planning system focuses directly on what machinists and supervisors actually need: parallel machine load balancing, setup clustering, cart transit times, and quick repair buttons.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93C5FD"/>
                </a:solidFill>
              </a:rPr>
              <a:t>3. High Return on Investment (ROI): </a:t>
            </a:r>
            <a:r>
              <a:rPr sz="1400">
                <a:solidFill>
                  <a:srgbClr val="FFFFFF"/>
                </a:solidFill>
              </a:rPr>
              <a:t>Unlocking the 19 parallel machines in your capacity database will immediately slash makespan and backlog without purchasing new machines.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93C5FD"/>
                </a:solidFill>
              </a:rPr>
              <a:t>4. Immediate Implementation Action: </a:t>
            </a:r>
            <a:r>
              <a:rPr sz="1400">
                <a:solidFill>
                  <a:srgbClr val="FFFFFF"/>
                </a:solidFill>
              </a:rPr>
              <a:t>Proceed to Phase 1: Upgrading CP-SAT to Flexible Job Shop with Parallel Machine Pools in schedule_makespan.py and app.py.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